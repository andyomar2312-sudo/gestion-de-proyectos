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embeddedFontLst>
    <p:embeddedFont>
      <p:font typeface="Bebas Neue"/>
      <p:regular r:id="rId201314"/>
    </p:embeddedFont>
    <p:embeddedFont>
      <p:font typeface="IBM Plex Mono"/>
      <p:regular r:id="rId201315"/>
    </p:embeddedFont>
    <p:embeddedFont>
      <p:font typeface="IBM Plex Mono Bold"/>
      <p:regular r:id="rId201316"/>
    </p:embeddedFont>
    <p:embeddedFont>
      <p:font typeface="Instrument Sans"/>
      <p:regular r:id="rId201317"/>
    </p:embeddedFont>
    <p:embeddedFont>
      <p:font typeface="Instrument Sans SemiBold"/>
      <p:regular r:id="rId201318"/>
    </p:embeddedFont>
    <p:embeddedFont>
      <p:font typeface="Instrument Sans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1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32109" y="2679700"/>
            <a:ext cx="685783" cy="304800"/>
          </a:xfrm>
          <a:prstGeom prst="rightArrow">
            <a:avLst/>
          </a:prstGeom>
          <a:solidFill>
            <a:srgbClr val="A685A9"/>
          </a:solidFill>
          <a:ln/>
        </p:spPr>
      </p:sp>
      <p:sp>
        <p:nvSpPr>
          <p:cNvPr id="3" name="Shape 1"/>
          <p:cNvSpPr/>
          <p:nvPr/>
        </p:nvSpPr>
        <p:spPr>
          <a:xfrm>
            <a:off x="7632509" y="2679700"/>
            <a:ext cx="685783" cy="304800"/>
          </a:xfrm>
          <a:prstGeom prst="rightArrow">
            <a:avLst/>
          </a:prstGeom>
          <a:solidFill>
            <a:srgbClr val="A685A9"/>
          </a:solidFill>
          <a:ln/>
        </p:spPr>
      </p:sp>
      <p:sp>
        <p:nvSpPr>
          <p:cNvPr id="4" name="Shape 2"/>
          <p:cNvSpPr/>
          <p:nvPr/>
        </p:nvSpPr>
        <p:spPr>
          <a:xfrm rot="5400000">
            <a:off x="9880353" y="3784600"/>
            <a:ext cx="355591" cy="609600"/>
          </a:xfrm>
          <a:prstGeom prst="rightArrow">
            <a:avLst/>
          </a:prstGeom>
          <a:solidFill>
            <a:srgbClr val="A685A9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7632509" y="5168900"/>
            <a:ext cx="685783" cy="304800"/>
          </a:xfrm>
          <a:prstGeom prst="rightArrow">
            <a:avLst/>
          </a:prstGeom>
          <a:solidFill>
            <a:srgbClr val="A685A9"/>
          </a:solidFill>
          <a:ln/>
        </p:spPr>
      </p:sp>
      <p:sp>
        <p:nvSpPr>
          <p:cNvPr id="6" name="Shape 4"/>
          <p:cNvSpPr/>
          <p:nvPr/>
        </p:nvSpPr>
        <p:spPr>
          <a:xfrm flipH="1">
            <a:off x="3632109" y="5168900"/>
            <a:ext cx="685783" cy="304800"/>
          </a:xfrm>
          <a:prstGeom prst="rightArrow">
            <a:avLst/>
          </a:prstGeom>
          <a:solidFill>
            <a:srgbClr val="A685A9"/>
          </a:solidFill>
          <a:ln/>
        </p:spPr>
      </p:sp>
      <p:sp>
        <p:nvSpPr>
          <p:cNvPr id="7" name="Text 5"/>
          <p:cNvSpPr/>
          <p:nvPr/>
        </p:nvSpPr>
        <p:spPr>
          <a:xfrm>
            <a:off x="603235" y="429022"/>
            <a:ext cx="1158846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6E6C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CASO DE ESTUDIO · CICLO DE VIDA DEL SOFTWARE · EXPLICACIÓN PARA LA DUEÑA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3235" y="688677"/>
            <a:ext cx="11036024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dirty="0">
                <a:solidFill>
                  <a:srgbClr val="17151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Crear su peluquería</a:t>
            </a:r>
            <a:endParaRPr lang="en-US" sz="4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100" dirty="0">
                <a:solidFill>
                  <a:srgbClr val="673B6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con apoyo de software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533387" y="1968500"/>
            <a:ext cx="3174921" cy="1651000"/>
          </a:xfrm>
          <a:prstGeom prst="roundRect">
            <a:avLst>
              <a:gd name="adj" fmla="val 12923"/>
            </a:avLst>
          </a:prstGeom>
          <a:solidFill>
            <a:srgbClr val="3D2340"/>
          </a:solidFill>
          <a:ln/>
        </p:spPr>
      </p:sp>
      <p:sp>
        <p:nvSpPr>
          <p:cNvPr id="10" name="Text 8"/>
          <p:cNvSpPr/>
          <p:nvPr/>
        </p:nvSpPr>
        <p:spPr>
          <a:xfrm>
            <a:off x="787380" y="2039541"/>
            <a:ext cx="327651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PRIMERO, ESCUCHAMOS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87380" y="2299196"/>
            <a:ext cx="266693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Planificación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87380" y="2730996"/>
            <a:ext cx="2666933" cy="817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Le pregunto qué quiere ofrecer, cuántas personas atenderá y cuánto puede invertir. Juntas acordamos un objetivo claro y sencillo.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08387" y="1968500"/>
            <a:ext cx="3174921" cy="1651000"/>
          </a:xfrm>
          <a:prstGeom prst="roundRect">
            <a:avLst>
              <a:gd name="adj" fmla="val 12923"/>
            </a:avLst>
          </a:prstGeom>
          <a:solidFill>
            <a:srgbClr val="673B6A"/>
          </a:solidFill>
          <a:ln/>
        </p:spPr>
      </p:sp>
      <p:sp>
        <p:nvSpPr>
          <p:cNvPr id="14" name="Text 12"/>
          <p:cNvSpPr/>
          <p:nvPr/>
        </p:nvSpPr>
        <p:spPr>
          <a:xfrm>
            <a:off x="4762381" y="2039541"/>
            <a:ext cx="327651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DESPUÉS, ENTENDEMOS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62381" y="2299196"/>
            <a:ext cx="266693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Análisis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62381" y="2730996"/>
            <a:ext cx="2666933" cy="817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Observo cómo trabaja hoy: cómo recibe reservas, anota servicios, cobra y revisa productos. No le hablo de código; traduzco sus necesidades a funciones.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508787" y="1968500"/>
            <a:ext cx="3174921" cy="1651000"/>
          </a:xfrm>
          <a:prstGeom prst="roundRect">
            <a:avLst>
              <a:gd name="adj" fmla="val 12923"/>
            </a:avLst>
          </a:prstGeom>
          <a:solidFill>
            <a:srgbClr val="A685A9"/>
          </a:solidFill>
          <a:ln/>
        </p:spPr>
      </p:sp>
      <p:sp>
        <p:nvSpPr>
          <p:cNvPr id="18" name="Text 16"/>
          <p:cNvSpPr/>
          <p:nvPr/>
        </p:nvSpPr>
        <p:spPr>
          <a:xfrm>
            <a:off x="8762781" y="2039541"/>
            <a:ext cx="327651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17151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 HACEMOS VISIBLE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762781" y="2299196"/>
            <a:ext cx="266693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7151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Diseño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762781" y="2730996"/>
            <a:ext cx="2666933" cy="817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1715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Le muestro con dibujos dónde verá las citas, los precios y los pagos. Definimos pantallas simples, con palabras que ella reconoce.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508787" y="4445000"/>
            <a:ext cx="3174921" cy="1651000"/>
          </a:xfrm>
          <a:prstGeom prst="roundRect">
            <a:avLst>
              <a:gd name="adj" fmla="val 12923"/>
            </a:avLst>
          </a:prstGeom>
          <a:solidFill>
            <a:srgbClr val="F3F3F3"/>
          </a:solidFill>
          <a:ln w="12700">
            <a:solidFill>
              <a:srgbClr val="A685A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5480" y="4516041"/>
            <a:ext cx="325111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6E6C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 CONSTRUIMOS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75480" y="4775696"/>
            <a:ext cx="26415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7151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Implementación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775480" y="5207496"/>
            <a:ext cx="2641534" cy="817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Creo la agenda, el catálogo de servicios, la lista de clientes, la caja y el inventario. Avanzamos por partes para que pueda revisar cada una.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08387" y="4445000"/>
            <a:ext cx="3174921" cy="1651000"/>
          </a:xfrm>
          <a:prstGeom prst="roundRect">
            <a:avLst>
              <a:gd name="adj" fmla="val 12923"/>
            </a:avLst>
          </a:prstGeom>
          <a:solidFill>
            <a:srgbClr val="FFFFFF"/>
          </a:solidFill>
          <a:ln w="12700">
            <a:solidFill>
              <a:srgbClr val="A685A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5081" y="4516041"/>
            <a:ext cx="325111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6E6C7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 PROBAMOS JUNTAS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75081" y="4775696"/>
            <a:ext cx="264153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7151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Pruebas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775081" y="5207496"/>
            <a:ext cx="2641534" cy="817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Le pido que haga una reserva y registre un cobro como lo haría en su día a día. Así corregimos confusiones antes de abrir y cuidamos sus datos.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33387" y="4445000"/>
            <a:ext cx="3174921" cy="1651000"/>
          </a:xfrm>
          <a:prstGeom prst="roundRect">
            <a:avLst>
              <a:gd name="adj" fmla="val 12923"/>
            </a:avLst>
          </a:prstGeom>
          <a:solidFill>
            <a:srgbClr val="6E6C76"/>
          </a:solidFill>
          <a:ln/>
        </p:spPr>
      </p:sp>
      <p:sp>
        <p:nvSpPr>
          <p:cNvPr id="30" name="Text 28"/>
          <p:cNvSpPr/>
          <p:nvPr/>
        </p:nvSpPr>
        <p:spPr>
          <a:xfrm>
            <a:off x="787380" y="4516041"/>
            <a:ext cx="327651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CUANDO YA ESTÁ ABIERTA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87380" y="4775696"/>
            <a:ext cx="266693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Mantenimiento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87380" y="5207496"/>
            <a:ext cx="2666933" cy="817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Después la acompaño: actualizo precios y servicios, corrijo errores y agrego mejoras cuando su negocio crece. El software sigue siendo su apoyo.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73043" y="6350000"/>
            <a:ext cx="1164560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b="1" dirty="0">
                <a:solidFill>
                  <a:srgbClr val="17151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La cascada da orden:</a:t>
            </a:r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17151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primero escucho y entiendo su negocio; luego diseño, construyo y pruebo una solución que ella pueda usar con confianza.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2026-10-05T22:42:50Z</dcterms:created>
  <dcterms:modified xsi:type="dcterms:W3CDTF">2026-10-05T22:42:50Z</dcterms:modified>
</cp:coreProperties>
</file>